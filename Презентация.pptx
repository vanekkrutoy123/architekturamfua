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Обратить внимание на отличие от tightly-coupled архитектур и на роль контроллеров шины.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Рассказать о физических ограничениях шины: полоса пропускания, задержки, конфликты доступа.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Примеры: ранние ПК и серверы с общей системной шиной; современные системы чаще используют межсоединения высокой производительности.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Пояснить, что одно и то же устройство можно классифицировать по нескольким критериям одновременно.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Указать типичные примеры: SMP — shared, кластер MPI — distributed.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Классическая архитектура означает упор на последовательное выполнение и организацию памяти; современные системы смешивают подходы.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Дать примеры: SIMD — векторные процессоры, GPU; MIMD — многопроцессорные серверы, кластеры.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 объяснить понятие SIMT (модель потоков в GPU) как практическое развитие идеи SIMD.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Магистрально-модульный принцип организации ЭВМ</a:t>
            </a:r>
          </a:p>
          <a:p>
            <a:r>
              <a:t>Классификация параллельных компьютеров</a:t>
            </a:r>
          </a:p>
          <a:p>
            <a:r>
              <a:t>Классификация архитектур вычислительных систем (классическая, Флинна)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Краткая учебная презентация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презентации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Магистрально-модульный принцип организации ЭВМ</a:t>
            </a:r>
          </a:p>
          <a:p>
            <a:pPr>
              <a:defRPr sz="2000"/>
            </a:pPr>
            <a:r>
              <a:t>Компоненты и структура, преимущества/ограничения</a:t>
            </a:r>
          </a:p>
          <a:p>
            <a:pPr>
              <a:defRPr sz="2000"/>
            </a:pPr>
            <a:r>
              <a:t>Классификация параллельных компьютеров (разные критерии)</a:t>
            </a:r>
          </a:p>
          <a:p>
            <a:pPr>
              <a:defRPr sz="2000"/>
            </a:pPr>
            <a:r>
              <a:t>Классификация архитектур: классическая (фон Нейман/Гарвард), классификация Флинна</a:t>
            </a:r>
          </a:p>
          <a:p>
            <a:pPr>
              <a:defRPr sz="2000"/>
            </a:pPr>
            <a:r>
              <a:t>Выводы и источники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Магистрально-модульный принцип — определение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Организация ЭВМ, где компоненты (процессор, память, устройства ввода/вывода) соединены общими шинами (магистралями).</a:t>
            </a:r>
          </a:p>
          <a:p>
            <a:pPr>
              <a:defRPr sz="2000"/>
            </a:pPr>
            <a:r>
              <a:t>Модули — логически обособленные блоки, взаимодействующие через интерфейсы шины.</a:t>
            </a:r>
          </a:p>
          <a:p>
            <a:pPr>
              <a:defRPr sz="2000"/>
            </a:pPr>
            <a:r>
              <a:t>Цель: упрощение проектирования и расширяемости за счёт стандартизированных соединений.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Компоненты и структура магистральной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Процессор(ы): управляющий и/или вычислительные блоки.</a:t>
            </a:r>
          </a:p>
          <a:p>
            <a:pPr>
              <a:defRPr sz="2000"/>
            </a:pPr>
            <a:r>
              <a:t>Память: общая оперативная память, к которой обращаются по шине.</a:t>
            </a:r>
          </a:p>
          <a:p>
            <a:pPr>
              <a:defRPr sz="2000"/>
            </a:pPr>
            <a:r>
              <a:t>Устройства ввода-вывода и контроллеры.</a:t>
            </a:r>
          </a:p>
          <a:p>
            <a:pPr>
              <a:defRPr sz="2000"/>
            </a:pPr>
            <a:r>
              <a:t>Типы шин: шина данных, шина адреса, шина управления.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 и недостатки магистрального подхода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Преимущества: простота дизайна, удешевление за счёт общих интерфейсов, лёгкость расширения модулей.</a:t>
            </a:r>
          </a:p>
          <a:p>
            <a:pPr>
              <a:defRPr sz="2000"/>
            </a:pPr>
            <a:r>
              <a:t>Недостатки: бутылочное горлышко шины при высоких нагрузках, ограниченная масштабируемость, конкуренция за ресурсы.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Классификация параллельных компьютеров — критерии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По уровню параллельности: битовая, инструкционная, потоко-данная, потоковая/задачная.</a:t>
            </a:r>
          </a:p>
          <a:p>
            <a:pPr>
              <a:defRPr sz="2000"/>
            </a:pPr>
            <a:r>
              <a:t>По памяти: общая (shared), распределённая (distributed), NUMA/UMA.</a:t>
            </a:r>
          </a:p>
          <a:p>
            <a:pPr>
              <a:defRPr sz="2000"/>
            </a:pPr>
            <a:r>
              <a:t>По масштабу: мультипроцессоры, кластерные системы, MPP, many-core (GPU).</a:t>
            </a:r>
          </a:p>
          <a:p>
            <a:pPr>
              <a:defRPr sz="2000"/>
            </a:pPr>
            <a:r>
              <a:t>По топологии соединения: шина, кроссбар, сеть (топологии: кольцо, сеть-решётка, тор и др.).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Классификация по организации памяти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Shared memory (общая память): процессы/процессоры обращаются к одному адресному пространству.</a:t>
            </a:r>
          </a:p>
          <a:p>
            <a:pPr>
              <a:defRPr sz="2000"/>
            </a:pPr>
            <a:r>
              <a:t>Distributed memory (распределённая): каждый узел имеет собственную локальную память; обмен — через сообщения.</a:t>
            </a:r>
          </a:p>
          <a:p>
            <a:pPr>
              <a:defRPr sz="2000"/>
            </a:pPr>
            <a:r>
              <a:t>NUMA (неоднородный доступ к памяти): сочетание производительности локального и удалённого доступа.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Классическая архитектура вычислительных систем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Архитектуры фон Неймана и Гарварда: концепция хранимой программы, последовательный цикл выполнения инструкций.</a:t>
            </a:r>
          </a:p>
          <a:p>
            <a:pPr>
              <a:defRPr sz="2000"/>
            </a:pPr>
            <a:r>
              <a:t>Фон Нейман: единое адресное пространство для данных и команд (возможна 'бутылочка' шины инструкций/данных).</a:t>
            </a:r>
          </a:p>
          <a:p>
            <a:pPr>
              <a:defRPr sz="2000"/>
            </a:pPr>
            <a:r>
              <a:t>Гарвард: раздельные пространства для команд и данных (позволяет параллельный доступ).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Классификация Флинна (1966)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SISD — Single Instruction Single Data: классические последовательные ЭВМ.</a:t>
            </a:r>
          </a:p>
          <a:p>
            <a:pPr>
              <a:defRPr sz="2000"/>
            </a:pPr>
            <a:r>
              <a:t>SIMD — Single Instruction Multiple Data: одна инструкция на множество данных (векторные/матричные операции, GPU-подобные режимы).</a:t>
            </a:r>
          </a:p>
          <a:p>
            <a:pPr>
              <a:defRPr sz="2000"/>
            </a:pPr>
            <a:r>
              <a:t>MISD — Multiple Instruction Single Data: редкая, теоретическая категория (параллельные операции над одной потоковой информацией).</a:t>
            </a:r>
          </a:p>
          <a:p>
            <a:pPr>
              <a:defRPr sz="2000"/>
            </a:pPr>
            <a:r>
              <a:t>MIMD — Multiple Instruction Multiple Data: многопоточность/многоядерные системы, каждый процессор выполняет собственную инструкцию над своими данными.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Соответствие современных систем классификациям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GPU: обычно SIMD / SIMT (Single Instruction, Multiple Threads) — высокая параллельность данных.</a:t>
            </a:r>
          </a:p>
          <a:p>
            <a:pPr>
              <a:defRPr sz="2000"/>
            </a:pPr>
            <a:r>
              <a:t>Многоядерные CPU: MIMD, поддерживают многозадачность и параллельные потоки.</a:t>
            </a:r>
          </a:p>
          <a:p>
            <a:pPr>
              <a:defRPr sz="2000"/>
            </a:pPr>
            <a:r>
              <a:t>Кластеры и суперкомпьютеры: распределённая память + MIMD; иногда гибридные (MPI + OpenMP).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Магистрально-модульный принцип прост и удобен для малой/средней сложности систем, но ограничен в масштабировании.</a:t>
            </a:r>
          </a:p>
          <a:p>
            <a:pPr>
              <a:defRPr sz="2000"/>
            </a:pPr>
            <a:r>
              <a:t>Классификации помогают понять архитектурные решения: по памяти, по топологии и по модели исполнения (Флинн).</a:t>
            </a:r>
          </a:p>
          <a:p>
            <a:pPr>
              <a:defRPr sz="2000"/>
            </a:pPr>
            <a:r>
              <a:t>Современные архитектуры часто смешивают принципы (гибриды): приходится выбирать компромисс между производительностью и сложностью.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Рекомендуемая литература и источники для углубления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Классические учебники по архитектуре ЭВМ (Tanenbaum, Patterson &amp; Hennessy).</a:t>
            </a:r>
          </a:p>
          <a:p>
            <a:pPr>
              <a:defRPr sz="2000"/>
            </a:pPr>
            <a:r>
              <a:t>Статьи и материалы по Флинну и современным архитектурам (GPU, NUMA, кластерные системы).</a:t>
            </a:r>
          </a:p>
          <a:p>
            <a:pPr>
              <a:defRPr sz="2000"/>
            </a:pPr>
            <a:r>
              <a:t>Документация по MPI/OpenMP, материалы по архитектурам GPU (CUDA/OpenCL) для практики.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Схема магистрально-модульной организации ЭВМ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Процессор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Оперативная память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Устройства</a:t>
            </a:r>
          </a:p>
          <a:p>
            <a:r>
              <a:t>ввода-вывода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8686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СИСТЕМНАЯ МАГИСТРАЛЬ (данные • адрес • управление)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Параллельные системы: организация памяти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Shared Memory</a:t>
            </a:r>
          </a:p>
          <a:p>
            <a:r>
              <a:t>(общая память)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828800"/>
            <a:ext cx="3657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Distributed Memory</a:t>
            </a:r>
          </a:p>
          <a:p>
            <a:r>
              <a:t>(распределённая память)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SMP, NUMA</a:t>
            </a:r>
          </a:p>
          <a:p>
            <a:r>
              <a:t>Общий адрес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2004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Кластеры</a:t>
            </a:r>
          </a:p>
          <a:p>
            <a:r>
              <a:t>Обмен сообщениями (MPI)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Классификация Флинна — схема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SISD</a:t>
            </a:r>
          </a:p>
          <a:p>
            <a:r>
              <a:t>1 инструкция</a:t>
            </a:r>
          </a:p>
          <a:p>
            <a:r>
              <a:t>1 данные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828800"/>
            <a:ext cx="365760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SIMD</a:t>
            </a:r>
          </a:p>
          <a:p>
            <a:r>
              <a:t>1 инструкция</a:t>
            </a:r>
          </a:p>
          <a:p>
            <a:r>
              <a:t>много данных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365760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MISD</a:t>
            </a:r>
          </a:p>
          <a:p>
            <a:r>
              <a:t>много инструкций</a:t>
            </a:r>
          </a:p>
          <a:p>
            <a:r>
              <a:t>1 данные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657600"/>
            <a:ext cx="3657600" cy="118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MIMD</a:t>
            </a:r>
          </a:p>
          <a:p>
            <a:r>
              <a:t>много инструкций</a:t>
            </a:r>
          </a:p>
          <a:p>
            <a:r>
              <a:t>много данных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Современная гибридная архитектура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CPU</a:t>
            </a:r>
          </a:p>
          <a:p>
            <a:r>
              <a:t>(MIMD)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228600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GPU</a:t>
            </a:r>
          </a:p>
          <a:p>
            <a:r>
              <a:t>(SIMD / SIMT)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84048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Общая / видеопамять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